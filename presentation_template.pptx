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9" r:id="rId11"/>
    <p:sldId id="272" r:id="rId12"/>
    <p:sldId id="270" r:id="rId13"/>
    <p:sldId id="273" r:id="rId14"/>
    <p:sldId id="274" r:id="rId15"/>
    <p:sldId id="265" r:id="rId16"/>
    <p:sldId id="267" r:id="rId17"/>
    <p:sldId id="268" r:id="rId18"/>
    <p:sldId id="271" r:id="rId19"/>
    <p:sldId id="275" r:id="rId20"/>
    <p:sldId id="276" r:id="rId21"/>
    <p:sldId id="263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454D8-C95C-4A2D-907F-E407E2919721}" v="15" dt="2026-06-28T16:35:24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8" autoAdjust="0"/>
    <p:restoredTop sz="77101" autoAdjust="0"/>
  </p:normalViewPr>
  <p:slideViewPr>
    <p:cSldViewPr snapToGrid="0">
      <p:cViewPr varScale="1">
        <p:scale>
          <a:sx n="106" d="100"/>
          <a:sy n="106" d="100"/>
        </p:scale>
        <p:origin x="3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4B450-7EA4-441B-8B6C-8DE730E3BE2D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E2C1A-DBA6-4064-B11B-EDC1992A1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6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83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main outcome is weekly WWW sales at the store level, transformed to log sales and aligned around competitor entry dates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798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define treatment as local exposure to a new auto-parts competitor opening. A WWW store enters the treated group when a new AutoZone, Advance Auto, or O’Reilly opens within a chosen trade-area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31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each exposed WWW store to a synthetic WWW built from similar, unexposed stores that closely matched its sales path before competitor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04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controls let us compare each exposed WWW store to a data-driven benchmark that behaved similarly before competitor entry, making the post-entry gap easier to interpret as competitive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8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Synthetic control asks: “What combination of unexposed WWW stores best reproduces this store before entry, and what happens after the competitor opens?”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17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estimate the effect of competitor entry as the post-opening gap between exposed WWW sales and a synthetic counterfactual built from similar unexposed WWW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86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assumption is that, absent competitor entry, the treated WWW would have continued to track its synthetic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93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credible synthetic control should look almost identical to the treated WWW before competitor entry; otherwise, the post-entry gap is hard to interpret causally.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Line chart: Actual WMT vs. Synthetic WMT sales</a:t>
            </a:r>
            <a:endParaRPr lang="en-US" dirty="0"/>
          </a:p>
          <a:p>
            <a:r>
              <a:rPr lang="en-US" dirty="0"/>
              <a:t>X-axis: weeks relative to competitor opening </a:t>
            </a:r>
          </a:p>
          <a:p>
            <a:r>
              <a:rPr lang="en-US" dirty="0"/>
              <a:t>Y-axis: indexed or log WWW sales </a:t>
            </a:r>
          </a:p>
          <a:p>
            <a:r>
              <a:rPr lang="en-US" dirty="0"/>
              <a:t>Vertical line: competitor opening date </a:t>
            </a:r>
          </a:p>
          <a:p>
            <a:r>
              <a:rPr lang="en-US" dirty="0"/>
              <a:t>Pre-period: lines should overlap closely </a:t>
            </a:r>
          </a:p>
          <a:p>
            <a:r>
              <a:rPr lang="en-US" dirty="0"/>
              <a:t>Post-period: gap becomes the estimated impact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5E2C1A-DBA6-4064-B11B-EDC1992A15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9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DA4B5-7254-D3BF-9152-C0BB25D629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A1B2B-A0F0-309F-FE90-A6D3B17B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E7907-A778-E820-C3BA-A1CE8C7D6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E152F-5634-7ABA-8590-DC9CEECEB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FE59A-67ED-3F23-48F0-EE6BD14F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8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9CB-E78F-B944-86E8-7011E2D3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B246E-9A3E-369C-46E6-9C0F95AAA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3EBA2-7300-748B-C097-63DE75BF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3CD5D-976C-4F8E-5850-257E1B9B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5CDF-C537-FFEC-7C39-B4B0713BB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42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307B8-A3B6-498C-0564-177FF1A6C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BF405-26EC-47FD-F76E-84C89072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AB344-84CB-BF95-0149-482E46EF9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C3CFF-5CB2-69A9-635F-DDBD9360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CCF9E-2354-4FF1-B3FA-AB00F0EA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7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088B-971C-9C38-F6C6-3674CF0D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1823-6B84-9AFF-FE11-2BBDC87658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2CCB2-81D9-1543-9E71-FD302D325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4BF60-816A-0A99-2057-0F57B1FE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D4BA6-42E6-2856-8140-E1F549E0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F9366-F41E-05BA-7167-2E1FFB3B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1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B556-825C-9429-3905-0A5BAF527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CB41B-0F39-F8FF-9F32-68DD822C7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FB845-9384-4100-878D-025CDCBD4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3DEDFB-423D-8763-EAE7-C4B79BB89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6A8C2F-D801-4EF0-3AEF-619AEE808C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82F99-DB62-7D17-A141-A68EE960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5054C-69B5-9C1D-CD55-1B60488F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C0D9A-27ED-0215-0BB4-17905BA5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1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7FF2-30C3-1AE7-81BA-B7647D372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FE4B6-1ACC-0BAB-84AF-E6C3F570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2AA27-3EC5-944F-203C-78F847C47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F581E-B667-0732-2FFA-FA2B6E3E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3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51CA6-DDDD-BC24-563D-F474D691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31A24-2800-B2A1-91C8-6AF00E58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2E737-3E18-E0A3-4DA3-0C754487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6885-DC94-606E-0AE2-6908EF627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2ED94-090B-85E5-9C2F-9BDF8A267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71875-2A77-6FD0-8A44-58D4331E9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A043C-16A5-5918-9249-65FDDF03E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EDC94-7EDA-EA8F-6C5B-83510D57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D6E19-A277-5E45-1037-987E6D8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DD65-B0CE-C201-8E1F-D0162478B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BEE95-5C3F-DBB0-D29B-D9D80D147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87AC4-C5A7-E834-F8BC-C934B0B5B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D94CD-CB36-DB31-5162-D1261F18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E4B5D-8AE8-D8A1-C337-D24525EAA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0B018-B6A8-64DD-C78A-5732DD7F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22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C21EB-699B-3B8B-BCC7-FA30E4DF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1BCBA-9ACD-F3B2-318B-2A7BCDB57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75B7B-C056-68CD-05F1-CCB98EE8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B01BA-2C5E-6487-0E70-4E6DE980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D1B5-18AD-C76A-8807-A4FF9CEAD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0D15A-1B6E-BA44-EC4A-416B8F561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01F693-A8DA-F895-FD4A-CACC9E9FC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4FF11-715C-EEA6-DDDB-961172F9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D934-FAA1-1589-E0AB-3BE8C4BE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62785-B687-601E-3E39-5E2B4837C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6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1F3116-5843-8708-BCB6-4E03A74F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39673-6B91-2799-0446-EF9738383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A5397-7014-48C6-6676-42FDDDBBF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711595-A5B3-404E-A0D4-D87332F1814C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1124B-C894-D3C6-2F8A-D8BF528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A19B6-D44F-71FC-2D38-A1B9B368A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70938E-5C40-4C39-B2E8-009D6998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7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AB57C-9728-44DC-06FD-0D4AF4186B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Wwtitle</a:t>
            </a:r>
            <a:r>
              <a:rPr lang="en-US" dirty="0"/>
              <a:t> </a:t>
            </a:r>
            <a:r>
              <a:rPr lang="en-US" dirty="0" err="1"/>
              <a:t>hereWW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087D2A-D41E-3F6C-DD25-4A2A47ABE6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7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43EE-0CC3-3B2D-3411-41B0AD4F8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ACDEE-E077-5586-FC85-1C569564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9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514D-5E76-DF20-81D1-4C47454E2E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E099-8C2D-DB95-1E74-5AEFFE660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46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6AF1-E184-492A-83B0-354EF08D4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auto-parts competitors matter for WWW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C8B6-C2C3-B663-3F13-E7A43EAE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Auto parts are a high-margin category</a:t>
            </a:r>
          </a:p>
          <a:p>
            <a:pPr lvl="1"/>
            <a:r>
              <a:rPr lang="en-US" dirty="0"/>
              <a:t>AZ reported </a:t>
            </a:r>
            <a:r>
              <a:rPr lang="en-US" b="1" dirty="0"/>
              <a:t>52.6% gross margin</a:t>
            </a:r>
            <a:r>
              <a:rPr lang="en-US" dirty="0"/>
              <a:t> in FY2025,</a:t>
            </a:r>
          </a:p>
          <a:p>
            <a:pPr lvl="1"/>
            <a:r>
              <a:rPr lang="en-US" dirty="0"/>
              <a:t>OO reported </a:t>
            </a:r>
            <a:r>
              <a:rPr lang="en-US" b="1" dirty="0"/>
              <a:t>51.6%</a:t>
            </a:r>
            <a:r>
              <a:rPr lang="en-US" dirty="0"/>
              <a:t>, and </a:t>
            </a:r>
          </a:p>
          <a:p>
            <a:pPr lvl="1"/>
            <a:r>
              <a:rPr lang="en-US" dirty="0"/>
              <a:t>AA reported  </a:t>
            </a:r>
            <a:r>
              <a:rPr lang="en-US" b="1" dirty="0"/>
              <a:t>43.9% adjusted gross margin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Competition is intensifying through store expansion:</a:t>
            </a:r>
            <a:r>
              <a:rPr lang="en-US" dirty="0"/>
              <a:t> OOOO opened </a:t>
            </a:r>
            <a:r>
              <a:rPr lang="en-US" b="1" dirty="0"/>
              <a:t>xxx net new stores in 2025</a:t>
            </a:r>
            <a:r>
              <a:rPr lang="en-US" dirty="0"/>
              <a:t> and guided to </a:t>
            </a:r>
            <a:r>
              <a:rPr lang="en-US" b="1" dirty="0" err="1"/>
              <a:t>xxxx</a:t>
            </a:r>
            <a:r>
              <a:rPr lang="en-US" b="1" dirty="0"/>
              <a:t> net new stores in 2026</a:t>
            </a:r>
            <a:r>
              <a:rPr lang="en-US" dirty="0"/>
              <a:t>, increasing local competitive pressure.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The market is large and growing:</a:t>
            </a:r>
            <a:r>
              <a:rPr lang="en-US" dirty="0"/>
              <a:t> the U.S. light-vehicle aftermarket was projected to reach </a:t>
            </a:r>
            <a:r>
              <a:rPr lang="en-US" b="1" dirty="0"/>
              <a:t>$435B in 2025</a:t>
            </a:r>
            <a:r>
              <a:rPr lang="en-US" dirty="0"/>
              <a:t>, supported by older vehicles and more repair needs.</a:t>
            </a:r>
          </a:p>
          <a:p>
            <a:pPr lvl="1"/>
            <a:endParaRPr lang="en-US" dirty="0"/>
          </a:p>
          <a:p>
            <a:r>
              <a:rPr lang="en-US" b="1" dirty="0"/>
              <a:t>Specialty players compete on depth, urgency, and service:</a:t>
            </a:r>
            <a:r>
              <a:rPr lang="en-US" dirty="0"/>
              <a:t> AZ, AA, and OO can win trips where customers need immediate parts availability, staff expertise, or repair-focused advice—not just low prices. </a:t>
            </a:r>
          </a:p>
          <a:p>
            <a:endParaRPr lang="en-US" dirty="0"/>
          </a:p>
          <a:p>
            <a:r>
              <a:rPr lang="en-US" b="1" dirty="0"/>
              <a:t>The risk for Www is not only lost auto-part sales:</a:t>
            </a:r>
            <a:r>
              <a:rPr lang="en-US" dirty="0"/>
              <a:t> competitor entry may reduce www auto-department sales, but also the broader shopping basket if auto-related trips no longer start at www.</a:t>
            </a:r>
          </a:p>
        </p:txBody>
      </p:sp>
    </p:spTree>
    <p:extLst>
      <p:ext uri="{BB962C8B-B14F-4D97-AF65-F5344CB8AC3E}">
        <p14:creationId xmlns:p14="http://schemas.microsoft.com/office/powerpoint/2010/main" val="3914218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66508-586B-7293-A931-CCFE068093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96A2-B6A3-B00F-9694-70001AC93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6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D8AA7-3DBD-3CE3-E7B8-3FB9E67580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B0A82-B197-DC02-ADDB-A6123B632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42937" cy="4351338"/>
          </a:xfrm>
        </p:spPr>
        <p:txBody>
          <a:bodyPr>
            <a:normAutofit/>
          </a:bodyPr>
          <a:lstStyle/>
          <a:p>
            <a:r>
              <a:rPr lang="en-US" sz="2000" b="1" dirty="0"/>
              <a:t>WWW store-level sales data:</a:t>
            </a:r>
            <a:r>
              <a:rPr lang="en-US" sz="2000" dirty="0"/>
              <a:t> We use to measure how sales evolve before and after nearby auto-parts competitor openings.</a:t>
            </a:r>
          </a:p>
          <a:p>
            <a:r>
              <a:rPr lang="en-US" sz="2000" b="1" dirty="0"/>
              <a:t>Competitor entry events:</a:t>
            </a:r>
            <a:r>
              <a:rPr lang="en-US" sz="2000" dirty="0"/>
              <a:t> We identify new entries using </a:t>
            </a:r>
            <a:r>
              <a:rPr lang="en-US" sz="2000" b="1" dirty="0"/>
              <a:t>merchant location data</a:t>
            </a:r>
            <a:r>
              <a:rPr lang="en-US" sz="2000" dirty="0"/>
              <a:t>, capturing store openings for </a:t>
            </a:r>
            <a:r>
              <a:rPr lang="en-US" sz="2000" b="1" dirty="0"/>
              <a:t>AutoZone, Advance Auto Parts, and O’Reilly Auto Parts</a:t>
            </a:r>
            <a:r>
              <a:rPr lang="en-US" sz="2000" dirty="0"/>
              <a:t>. </a:t>
            </a:r>
          </a:p>
          <a:p>
            <a:r>
              <a:rPr lang="en-US" sz="2000" b="1" dirty="0"/>
              <a:t>Event sample:</a:t>
            </a:r>
            <a:r>
              <a:rPr lang="en-US" sz="2000" dirty="0"/>
              <a:t> The analysis includes approximately </a:t>
            </a:r>
            <a:r>
              <a:rPr lang="en-US" sz="2000" b="1" dirty="0"/>
              <a:t>69 openings per competitor</a:t>
            </a:r>
            <a:r>
              <a:rPr lang="en-US" sz="2000" dirty="0"/>
              <a:t>, giving us a balanced set of entry events across the three major auto-parts chains. </a:t>
            </a:r>
          </a:p>
          <a:p>
            <a:r>
              <a:rPr lang="en-US" sz="2000" b="1" dirty="0"/>
              <a:t>Unit of analysis:</a:t>
            </a:r>
            <a:r>
              <a:rPr lang="en-US" sz="2000" dirty="0"/>
              <a:t> The core panel is built at the </a:t>
            </a:r>
            <a:r>
              <a:rPr lang="en-US" sz="2000" b="1" dirty="0"/>
              <a:t>WWW store × time period</a:t>
            </a:r>
            <a:r>
              <a:rPr lang="en-US" sz="2000" dirty="0"/>
              <a:t> level, allowing us to compare treated stores to similar untreated stores before and after competitor entry.</a:t>
            </a:r>
          </a:p>
        </p:txBody>
      </p:sp>
    </p:spTree>
    <p:extLst>
      <p:ext uri="{BB962C8B-B14F-4D97-AF65-F5344CB8AC3E}">
        <p14:creationId xmlns:p14="http://schemas.microsoft.com/office/powerpoint/2010/main" val="204150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A5762-54D0-9ADD-7EA3-0007EA73CB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Outcome: WMT sales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E7C19-0FBD-1E49-0AAF-50D2A088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33245" cy="4351338"/>
          </a:xfrm>
        </p:spPr>
        <p:txBody>
          <a:bodyPr>
            <a:normAutofit/>
          </a:bodyPr>
          <a:lstStyle/>
          <a:p>
            <a:r>
              <a:rPr lang="en-US" sz="1600" b="1" dirty="0"/>
              <a:t>Primary outcome:</a:t>
            </a:r>
            <a:r>
              <a:rPr lang="en-US" sz="1600" dirty="0"/>
              <a:t> WWW store-level sales, measured as total dollar sales by store and time period. </a:t>
            </a:r>
          </a:p>
          <a:p>
            <a:r>
              <a:rPr lang="en-US" sz="1600" b="1" dirty="0"/>
              <a:t>Analysis granularity:</a:t>
            </a:r>
            <a:r>
              <a:rPr lang="en-US" sz="1600" dirty="0"/>
              <a:t> Sales are aggregated at the </a:t>
            </a:r>
            <a:r>
              <a:rPr lang="en-US" sz="1600" b="1" dirty="0"/>
              <a:t>WWW store × week</a:t>
            </a:r>
            <a:r>
              <a:rPr lang="en-US" sz="1600" dirty="0"/>
              <a:t> level to smooth daily noise while preserving enough variation around competitor entry. </a:t>
            </a:r>
          </a:p>
          <a:p>
            <a:r>
              <a:rPr lang="en-US" sz="1600" b="1" dirty="0"/>
              <a:t>Core metric:</a:t>
            </a:r>
            <a:r>
              <a:rPr lang="en-US" sz="1600" dirty="0"/>
              <a:t> We focus on </a:t>
            </a:r>
            <a:r>
              <a:rPr lang="en-US" sz="1600" b="1" dirty="0"/>
              <a:t>auto-related category sales</a:t>
            </a:r>
            <a:r>
              <a:rPr lang="en-US" sz="1600" dirty="0"/>
              <a:t> where available, and use </a:t>
            </a:r>
            <a:r>
              <a:rPr lang="en-US" sz="1600" b="1" dirty="0"/>
              <a:t>total store sales</a:t>
            </a:r>
            <a:r>
              <a:rPr lang="en-US" sz="1600" dirty="0"/>
              <a:t> as a secondary outcome to test whether competitor entry affects the broader shopping basket.</a:t>
            </a:r>
          </a:p>
          <a:p>
            <a:r>
              <a:rPr lang="en-US" sz="1600" b="1" dirty="0"/>
              <a:t>Normalization:</a:t>
            </a:r>
            <a:r>
              <a:rPr lang="en-US" sz="1600" dirty="0"/>
              <a:t> Outcomes can be analyzed in </a:t>
            </a:r>
            <a:r>
              <a:rPr lang="en-US" sz="1600" b="1" dirty="0"/>
              <a:t>log sales</a:t>
            </a:r>
            <a:r>
              <a:rPr lang="en-US" sz="1600" dirty="0"/>
              <a:t> or indexed to the pre-entry average so that stores with different baseline sales levels are comparable.</a:t>
            </a:r>
          </a:p>
          <a:p>
            <a:r>
              <a:rPr lang="en-US" sz="1600" b="1" dirty="0"/>
              <a:t>Event-time structure:</a:t>
            </a:r>
            <a:r>
              <a:rPr lang="en-US" sz="1600" dirty="0"/>
              <a:t> For each exposed WWW store, sales are aligned relative to the competitor opening date, with a pre-period used to build the synthetic control and a post-period used to estimate impact.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39786-14BC-81D8-538C-7A5AE13C7161}"/>
                  </a:ext>
                </a:extLst>
              </p:cNvPr>
              <p:cNvSpPr txBox="1"/>
              <p:nvPr/>
            </p:nvSpPr>
            <p:spPr>
              <a:xfrm>
                <a:off x="1181580" y="4529220"/>
                <a:ext cx="2373662" cy="289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9C39786-14BC-81D8-538C-7A5AE13C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580" y="4529220"/>
                <a:ext cx="2373662" cy="289182"/>
              </a:xfrm>
              <a:prstGeom prst="rect">
                <a:avLst/>
              </a:prstGeom>
              <a:blipFill>
                <a:blip r:embed="rId3"/>
                <a:stretch>
                  <a:fillRect l="-2057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BA1801-D289-90BD-1FE1-8169E241AEFC}"/>
                  </a:ext>
                </a:extLst>
              </p:cNvPr>
              <p:cNvSpPr txBox="1"/>
              <p:nvPr/>
            </p:nvSpPr>
            <p:spPr>
              <a:xfrm>
                <a:off x="1181580" y="5090962"/>
                <a:ext cx="2138149" cy="342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𝑆𝑦𝑛𝑡h𝑒𝑡𝑖𝑐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BA1801-D289-90BD-1FE1-8169E241A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1580" y="5090962"/>
                <a:ext cx="2138149" cy="342914"/>
              </a:xfrm>
              <a:prstGeom prst="rect">
                <a:avLst/>
              </a:prstGeom>
              <a:blipFill>
                <a:blip r:embed="rId4"/>
                <a:stretch>
                  <a:fillRect l="-2564" r="-1140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16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2529-5398-9D9F-E349-6306B7C8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BCBB-7AA4-B3D1-2E3E-BD87064C7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 entry/exposure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F06C9-805B-9114-B69D-B37F762F38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667250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/>
                  <a:t>Competitor entry event:</a:t>
                </a:r>
                <a:r>
                  <a:rPr lang="en-US" sz="1800" dirty="0"/>
                  <a:t> A treatment event is defined as the opening of a new </a:t>
                </a:r>
                <a:r>
                  <a:rPr lang="en-US" sz="1800" b="1" dirty="0"/>
                  <a:t>AZ, AA, or OO </a:t>
                </a:r>
                <a:r>
                  <a:rPr lang="en-US" sz="1800" dirty="0"/>
                  <a:t>location. </a:t>
                </a:r>
              </a:p>
              <a:p>
                <a:r>
                  <a:rPr lang="en-US" sz="1800" b="1" dirty="0"/>
                  <a:t>Entry date:</a:t>
                </a:r>
                <a:r>
                  <a:rPr lang="en-US" sz="1800" dirty="0"/>
                  <a:t> The opening date is assigned using </a:t>
                </a:r>
                <a:r>
                  <a:rPr lang="en-US" sz="1800" b="1" dirty="0"/>
                  <a:t>merchant location data</a:t>
                </a:r>
                <a:r>
                  <a:rPr lang="en-US" sz="1800" dirty="0"/>
                  <a:t>, based on when the new auto-parts store first appears as an active merchant location. </a:t>
                </a:r>
              </a:p>
              <a:p>
                <a:r>
                  <a:rPr lang="en-US" sz="1800" b="1" dirty="0"/>
                  <a:t>Exposure rule:</a:t>
                </a:r>
                <a:r>
                  <a:rPr lang="en-US" sz="1800" dirty="0"/>
                  <a:t> A WWW store is considered </a:t>
                </a:r>
                <a:r>
                  <a:rPr lang="en-US" sz="1800" b="1" dirty="0"/>
                  <a:t>exposed</a:t>
                </a:r>
                <a:r>
                  <a:rPr lang="en-US" sz="1800" dirty="0"/>
                  <a:t> if it is located within a pre-defined radius of a new competitor opening, for example </a:t>
                </a:r>
                <a:r>
                  <a:rPr lang="en-US" sz="1800" b="1" dirty="0"/>
                  <a:t>3, 5, or 10 miles</a:t>
                </a:r>
                <a:r>
                  <a:rPr lang="en-US" sz="1800" dirty="0"/>
                  <a:t>. </a:t>
                </a:r>
              </a:p>
              <a:p>
                <a:r>
                  <a:rPr lang="en-US" sz="1800" b="1" dirty="0"/>
                  <a:t>Treatment timing:</a:t>
                </a:r>
                <a:r>
                  <a:rPr lang="en-US" sz="1800" dirty="0"/>
                  <a:t> For each exposed WWW store, event time is centered around the competitor opening date: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𝑐𝑒𝑛𝑡𝑒𝑟𝑒𝑑</m:t>
                          </m:r>
                        </m:sup>
                      </m:sSup>
                      <m:r>
                        <a:rPr lang="en-US" sz="180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is the week or month of competitor entry.</a:t>
                </a:r>
              </a:p>
              <a:p>
                <a:r>
                  <a:rPr lang="en-US" sz="1800" b="1" dirty="0"/>
                  <a:t>Control pool:</a:t>
                </a:r>
                <a:r>
                  <a:rPr lang="en-US" sz="1800" dirty="0"/>
                  <a:t> WWW stores with no nearby competitor opening during the analysis window are used as potential donor stores for the synthetic control. </a:t>
                </a:r>
              </a:p>
              <a:p>
                <a:r>
                  <a:rPr lang="en-US" sz="1800" dirty="0"/>
                  <a:t>if WWW store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800" dirty="0"/>
                  <a:t>is within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miles of a new competitor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1800" dirty="0"/>
                  <a:t>opening at time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800" dirty="0"/>
                  <a:t>, where: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 sz="18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1800" i="1"/>
                          <m:t>A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m:rPr>
                            <m:nor/>
                          </m:rPr>
                          <a:rPr lang="en-US" sz="1800" i="1"/>
                          <m:t>A</m:t>
                        </m:r>
                        <m:r>
                          <m:rPr>
                            <m:nor/>
                          </m:rPr>
                          <a:rPr lang="en-US" sz="1800" b="0" i="1" smtClean="0"/>
                          <m:t>A</m:t>
                        </m:r>
                      </m:e>
                      <m:e>
                        <m:r>
                          <m:rPr>
                            <m:nor/>
                          </m:rPr>
                          <a:rPr lang="en-US" sz="1800" i="1"/>
                          <m:t>O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d>
                  </m:oMath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7F06C9-805B-9114-B69D-B37F762F38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667250"/>
              </a:xfrm>
              <a:blipFill>
                <a:blip r:embed="rId3"/>
                <a:stretch>
                  <a:fillRect l="-376" t="-1175" r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860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127B5-B52B-7D1D-0DD3-77D74B78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C047-F731-EC4C-CC7B-59C7138D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Control Construction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AF479-3C1A-D607-F8B1-08C655EDA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1600" b="1" dirty="0"/>
                  <a:t>Treated WWW stores:</a:t>
                </a:r>
                <a:r>
                  <a:rPr lang="en-US" sz="1600" dirty="0"/>
                  <a:t> WWW locations exposed to a new nearby </a:t>
                </a:r>
                <a:r>
                  <a:rPr lang="en-US" sz="1600" b="1" dirty="0"/>
                  <a:t>AutoZone, Advance Auto Parts, or O’Reilly Auto Parts</a:t>
                </a:r>
                <a:r>
                  <a:rPr lang="en-US" sz="1600" dirty="0"/>
                  <a:t> opening within the selected trade-area radius.</a:t>
                </a:r>
              </a:p>
              <a:p>
                <a:r>
                  <a:rPr lang="en-US" sz="1600" dirty="0"/>
                  <a:t> </a:t>
                </a:r>
                <a:r>
                  <a:rPr lang="en-US" sz="1600" b="1" dirty="0"/>
                  <a:t>Treatment date:</a:t>
                </a:r>
                <a:r>
                  <a:rPr lang="en-US" sz="1600" dirty="0"/>
                  <a:t> Each treated WWW store is assigned an event date based on the competitor opening date, with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defined as the week or month of entry. </a:t>
                </a:r>
              </a:p>
              <a:p>
                <a:r>
                  <a:rPr lang="en-US" sz="1600" b="1" dirty="0"/>
                  <a:t>Donor pool:</a:t>
                </a:r>
                <a:r>
                  <a:rPr lang="en-US" sz="1600" dirty="0"/>
                  <a:t> Control stores are WWW locations that were </a:t>
                </a:r>
                <a:r>
                  <a:rPr lang="en-US" sz="1600" b="1" dirty="0"/>
                  <a:t>not exposed to a new auto-parts competitor opening</a:t>
                </a:r>
                <a:r>
                  <a:rPr lang="en-US" sz="1600" dirty="0"/>
                  <a:t> during the relevant pre/post window. </a:t>
                </a:r>
              </a:p>
              <a:p>
                <a:r>
                  <a:rPr lang="en-US" sz="1600" b="1" dirty="0"/>
                  <a:t>Synthetic control construction:</a:t>
                </a:r>
                <a:r>
                  <a:rPr lang="en-US" sz="1600" dirty="0"/>
                  <a:t> For each treated WWW store, we build a weighted combination of untreated WWW stores that best matches the treated store’s </a:t>
                </a:r>
                <a:r>
                  <a:rPr lang="en-US" sz="1600" b="1" dirty="0"/>
                  <a:t>pre-entry sales trajectory</a:t>
                </a:r>
                <a:r>
                  <a:rPr lang="en-US" sz="1600" dirty="0"/>
                  <a:t>. </a:t>
                </a:r>
              </a:p>
              <a:p>
                <a:r>
                  <a:rPr lang="en-US" sz="1600" b="1" dirty="0"/>
                  <a:t>Goal:</a:t>
                </a:r>
                <a:r>
                  <a:rPr lang="en-US" sz="1600" dirty="0"/>
                  <a:t> The synthetic WWW represents what sales would have looked like for the treated store </a:t>
                </a:r>
                <a:r>
                  <a:rPr lang="en-US" sz="1600" b="1" dirty="0"/>
                  <a:t>had the competitor not entered nearby</a:t>
                </a:r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6AF479-3C1A-D607-F8B1-08C655EDA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32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2A07A1-A938-2F1A-1FFB-F8EE13873916}"/>
                  </a:ext>
                </a:extLst>
              </p:cNvPr>
              <p:cNvSpPr txBox="1"/>
              <p:nvPr/>
            </p:nvSpPr>
            <p:spPr>
              <a:xfrm>
                <a:off x="3398948" y="5118520"/>
                <a:ext cx="5200976" cy="3580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𝑆𝑦𝑛𝑡h𝑒𝑡𝑖𝑐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2A07A1-A938-2F1A-1FFB-F8EE13873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948" y="5118520"/>
                <a:ext cx="5200976" cy="358047"/>
              </a:xfrm>
              <a:prstGeom prst="rect">
                <a:avLst/>
              </a:prstGeom>
              <a:blipFill>
                <a:blip r:embed="rId4"/>
                <a:stretch>
                  <a:fillRect l="-1641" t="-124138" r="-469" b="-2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869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C7A9D-9842-987F-BF70-A0761A66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C2D9-77A7-4C1F-4661-3127F49220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Synthetic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47E7-402F-819C-11D8-209227265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Competitor openings are not randomized:</a:t>
            </a:r>
            <a:r>
              <a:rPr lang="en-US" dirty="0"/>
              <a:t> AutoZone, Advance Auto Parts, and O’Reilly choose locations strategically, so simple treated-vs-control comparisons may be biased. </a:t>
            </a:r>
          </a:p>
          <a:p>
            <a:endParaRPr lang="en-US" b="1" dirty="0"/>
          </a:p>
          <a:p>
            <a:r>
              <a:rPr lang="en-US" b="1" dirty="0"/>
              <a:t>We need a credible counterfactual:</a:t>
            </a:r>
            <a:r>
              <a:rPr lang="en-US" dirty="0"/>
              <a:t> Synthetic control estimates what WWW sales would have looked like </a:t>
            </a:r>
            <a:r>
              <a:rPr lang="en-US" b="1" dirty="0"/>
              <a:t>without nearby competitor entry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It uses the pre-entry sales pattern:</a:t>
            </a:r>
            <a:r>
              <a:rPr lang="en-US" dirty="0"/>
              <a:t> Instead of relying only on store characteristics, synthetic control matches treated WWW stores to a weighted combination of untreated WWW stores based on their </a:t>
            </a:r>
            <a:r>
              <a:rPr lang="en-US" b="1" dirty="0"/>
              <a:t>pre-period sales trajectory</a:t>
            </a:r>
            <a:r>
              <a:rPr lang="en-US" dirty="0"/>
              <a:t>. </a:t>
            </a:r>
          </a:p>
          <a:p>
            <a:endParaRPr lang="en-US" b="1" dirty="0"/>
          </a:p>
          <a:p>
            <a:r>
              <a:rPr lang="en-US" b="1" dirty="0"/>
              <a:t>It is intuitive for business audiences:</a:t>
            </a:r>
            <a:r>
              <a:rPr lang="en-US" dirty="0"/>
              <a:t> The method creates a “synthetic WWW” that can be plotted directly against the actual WWW store before and after entry.</a:t>
            </a:r>
          </a:p>
          <a:p>
            <a:endParaRPr lang="en-US" b="1" dirty="0"/>
          </a:p>
          <a:p>
            <a:r>
              <a:rPr lang="en-US" b="1" dirty="0"/>
              <a:t>It works well for localized shocks:</a:t>
            </a:r>
            <a:r>
              <a:rPr lang="en-US" dirty="0"/>
              <a:t> Competitor openings are local market events, making synthetic controls a natural framework for estimating store-level sales impact.</a:t>
            </a:r>
          </a:p>
        </p:txBody>
      </p:sp>
    </p:spTree>
    <p:extLst>
      <p:ext uri="{BB962C8B-B14F-4D97-AF65-F5344CB8AC3E}">
        <p14:creationId xmlns:p14="http://schemas.microsoft.com/office/powerpoint/2010/main" val="358247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00EA1-B8F6-6D9C-6DA5-6F6FB262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A6B2B-1B13-EE77-37B9-1242641EF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Synthetic Controls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8948A-B8DD-F148-E227-0F93A8A7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Core idea:</a:t>
            </a:r>
            <a:r>
              <a:rPr lang="en-US" dirty="0"/>
              <a:t> For each exposed WWW store, we create a “synthetic WWW” using a weighted average of similar WWW stores that were not exposed to a nearby competitor opening. </a:t>
            </a:r>
          </a:p>
          <a:p>
            <a:endParaRPr lang="en-US" b="1" dirty="0"/>
          </a:p>
          <a:p>
            <a:r>
              <a:rPr lang="en-US" b="1" dirty="0"/>
              <a:t>Before entry:</a:t>
            </a:r>
            <a:r>
              <a:rPr lang="en-US" dirty="0"/>
              <a:t> The synthetic WWW is chosen to closely track the treated WWW’s sales path in the pre-entry period. </a:t>
            </a:r>
          </a:p>
          <a:p>
            <a:endParaRPr lang="en-US" b="1" dirty="0"/>
          </a:p>
          <a:p>
            <a:r>
              <a:rPr lang="en-US" b="1" dirty="0"/>
              <a:t>After entry:</a:t>
            </a:r>
            <a:r>
              <a:rPr lang="en-US" dirty="0"/>
              <a:t> Once the competitor opens, any gap between actual WWW sales and synthetic WWW sales is interpreted as the estimated impact of entry. </a:t>
            </a:r>
          </a:p>
          <a:p>
            <a:endParaRPr lang="en-US" b="1" dirty="0"/>
          </a:p>
          <a:p>
            <a:r>
              <a:rPr lang="en-US" b="1" dirty="0"/>
              <a:t>Why weights matter:</a:t>
            </a:r>
            <a:r>
              <a:rPr lang="en-US" dirty="0"/>
              <a:t> Some control stores receive more weight because they look more similar to the treated store before entry; unrelated stores receive little or zero weight. </a:t>
            </a:r>
          </a:p>
          <a:p>
            <a:endParaRPr lang="en-US" b="1" dirty="0"/>
          </a:p>
          <a:p>
            <a:r>
              <a:rPr lang="en-US" b="1" dirty="0"/>
              <a:t>Visual intuition:</a:t>
            </a:r>
            <a:r>
              <a:rPr lang="en-US" dirty="0"/>
              <a:t> If actual WWW sales fall below the synthetic WWW after entry, that suggests the new competitor may have diverted sales away from WWW.</a:t>
            </a:r>
          </a:p>
        </p:txBody>
      </p:sp>
    </p:spTree>
    <p:extLst>
      <p:ext uri="{BB962C8B-B14F-4D97-AF65-F5344CB8AC3E}">
        <p14:creationId xmlns:p14="http://schemas.microsoft.com/office/powerpoint/2010/main" val="3618585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D78B-8462-5850-04E5-7319438C3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CD6B-1E76-D193-55D1-69B55E5FD1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A7869-8163-FBD3-65BD-CE2E22F382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454787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Unit of analysis:</a:t>
                </a:r>
                <a:r>
                  <a:rPr lang="en-US" dirty="0"/>
                  <a:t> WWW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- observed over time 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is a week or month. </a:t>
                </a:r>
              </a:p>
              <a:p>
                <a:r>
                  <a:rPr lang="en-US" b="1" dirty="0"/>
                  <a:t>Outcome: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i="1" smtClean="0">
                                <a:latin typeface="Cambria Math" panose="02040503050406030204" pitchFamily="18" charset="0"/>
                              </a:rPr>
                              <m:t>WWW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i="1"/>
                              <m:t>sales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b="1" dirty="0"/>
                  <a:t>Treatment event:</a:t>
                </a:r>
                <a:r>
                  <a:rPr lang="en-US" dirty="0"/>
                  <a:t> A WWW store becomes treated when a new auto-parts competitor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opens within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: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nor/>
                      </m:rPr>
                      <a:rPr lang="en-US" i="1"/>
                      <m:t>if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competitor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opens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within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miles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of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store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where: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AutoZone</m:t>
                        </m:r>
                      </m:e>
                      <m:e>
                        <m:r>
                          <m:rPr>
                            <m:nor/>
                          </m:rPr>
                          <a:rPr lang="en-US" i="1"/>
                          <m:t>Advance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Auto</m:t>
                        </m:r>
                      </m:e>
                      <m:e>
                        <m:r>
                          <m:rPr>
                            <m:nor/>
                          </m:rPr>
                          <a:rPr lang="en-US" i="1"/>
                          <m:t>O</m:t>
                        </m:r>
                        <m:r>
                          <m:rPr>
                            <m:nor/>
                          </m:rPr>
                          <a:rPr lang="en-US" i="1"/>
                          <m:t>’</m:t>
                        </m:r>
                        <m:r>
                          <m:rPr>
                            <m:nor/>
                          </m:rPr>
                          <a:rPr lang="en-US" i="1"/>
                          <m:t>Reilly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b="1" dirty="0"/>
                  <a:t>Synthetic control:</a:t>
                </a:r>
                <a:r>
                  <a:rPr lang="en-US" dirty="0"/>
                  <a:t> For each treated WWW store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construct a weighted average of untreated WWW stores:</a:t>
                </a:r>
              </a:p>
              <a:p>
                <a:endParaRPr lang="en-US" dirty="0"/>
              </a:p>
              <a:p>
                <a:r>
                  <a:rPr lang="en-US" dirty="0"/>
                  <a:t>where: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≥0, 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Estimated treatment effect:</a:t>
                </a:r>
                <a:r>
                  <a:rPr lang="en-US" dirty="0"/>
                  <a:t> The impact of competitor entry is the gap between actual WWW sales and synthetic WWW sales after entry: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9A7869-8163-FBD3-65BD-CE2E22F382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4547879"/>
              </a:xfrm>
              <a:blipFill>
                <a:blip r:embed="rId3"/>
                <a:stretch>
                  <a:fillRect l="-483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46B110-252C-E4DB-9B00-8ECC518B2736}"/>
                  </a:ext>
                </a:extLst>
              </p:cNvPr>
              <p:cNvSpPr txBox="1"/>
              <p:nvPr/>
            </p:nvSpPr>
            <p:spPr>
              <a:xfrm>
                <a:off x="3514725" y="3978204"/>
                <a:ext cx="2182690" cy="800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46B110-252C-E4DB-9B00-8ECC518B2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4725" y="3978204"/>
                <a:ext cx="2182690" cy="800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109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DA60-D15E-1F30-A386-1E752509D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6D54-CDD5-2721-DE2C-DE2FCDCA72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Assumptions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A532A-1F81-F039-DB1B-8F962795E1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Good pre-period fit:</a:t>
                </a:r>
                <a:r>
                  <a:rPr lang="en-US" dirty="0"/>
                  <a:t> The synthetic WWW must closely match the treated WWW’s sales trajectory before competitor entry. </a:t>
                </a:r>
              </a:p>
              <a:p>
                <a:r>
                  <a:rPr lang="en-US" b="1" dirty="0"/>
                  <a:t>No unobserved post-entry shocks:</a:t>
                </a:r>
                <a:r>
                  <a:rPr lang="en-US" dirty="0"/>
                  <a:t> After the competitor opens, there should not be another major local shock affecting the treated WWW differently from the donor stores. </a:t>
                </a:r>
              </a:p>
              <a:p>
                <a:r>
                  <a:rPr lang="en-US" b="1" dirty="0"/>
                  <a:t>No anticipation effects:</a:t>
                </a:r>
                <a:r>
                  <a:rPr lang="en-US" dirty="0"/>
                  <a:t> WWW sales should not change before the opening because customers or the store already anticipated the new competitor. </a:t>
                </a:r>
              </a:p>
              <a:p>
                <a:r>
                  <a:rPr lang="en-US" b="1" dirty="0"/>
                  <a:t>Stable donor pool:</a:t>
                </a:r>
                <a:r>
                  <a:rPr lang="en-US" dirty="0"/>
                  <a:t> Control WWW stores should not themselves be affected by nearby AutoZone, Advance Auto, or O’Reilly openings during the analysis window. </a:t>
                </a:r>
              </a:p>
              <a:p>
                <a:r>
                  <a:rPr lang="en-US" b="1" dirty="0"/>
                  <a:t>Comparable markets:</a:t>
                </a:r>
                <a:r>
                  <a:rPr lang="en-US" dirty="0"/>
                  <a:t> Treated and donor stores should come from markets with similar demand trends, seasonality, and local economic conditions. </a:t>
                </a:r>
              </a:p>
              <a:p>
                <a:r>
                  <a:rPr lang="en-US" dirty="0"/>
                  <a:t>Useful slide equation: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1"/>
                      <m:t>for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Meaning:</a:t>
                </a:r>
              </a:p>
              <a:p>
                <a:pPr lvl="1"/>
                <a:r>
                  <a:rPr lang="en-US" b="1" dirty="0"/>
                  <a:t>Before entry, the synthetic WWW should behave like the treated WWW. If that is true, the post-entry gap is more credible as the effect of competitor entry.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A532A-1F81-F039-DB1B-8F962795E1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38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067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0EF2A-9F3E-CFD1-C4EF-43EB67B3A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89D0-59EB-A82F-0A7A-A968830C4F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Pre-period fit diagnostics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DDCFE-A5BA-7D9E-4D03-E6D9C28191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/>
                  <a:t>Visual fit check:</a:t>
                </a:r>
                <a:r>
                  <a:rPr lang="en-US" sz="1800" dirty="0"/>
                  <a:t> Plot actual WWW sales against synthetic WWW sales before competitor entry to confirm that the synthetic control closely tracks the treated store. </a:t>
                </a:r>
              </a:p>
              <a:p>
                <a:r>
                  <a:rPr lang="en-US" sz="1800" b="1" dirty="0"/>
                  <a:t>Pre-period error metric:</a:t>
                </a:r>
                <a:r>
                  <a:rPr lang="en-US" sz="1800" dirty="0"/>
                  <a:t> Measure fit using the </a:t>
                </a:r>
                <a:r>
                  <a:rPr lang="en-US" sz="1800" b="1" dirty="0"/>
                  <a:t>root mean squared prediction error</a:t>
                </a:r>
                <a:r>
                  <a:rPr lang="en-US" sz="1800" dirty="0"/>
                  <a:t> before entry: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800" b="0"/>
                          <m:t>Pre</m:t>
                        </m:r>
                        <m:r>
                          <m:rPr>
                            <m:nor/>
                          </m:rPr>
                          <a:rPr lang="en-US" sz="1800" b="0"/>
                          <m:t>−</m:t>
                        </m:r>
                        <m:r>
                          <m:rPr>
                            <m:nor/>
                          </m:rPr>
                          <a:rPr lang="en-US" sz="1800" b="0"/>
                          <m:t>RMSPE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grow m:val="on"/>
                            <m:supHide m:val="on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180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𝑖𝑡</m:t>
                                        </m:r>
                                      </m:sub>
                                    </m:sSub>
                                    <m:r>
                                      <a:rPr lang="en-US" sz="180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𝑌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𝑖𝑡</m:t>
                                        </m:r>
                                      </m:sub>
                                      <m:sup>
                                        <m:r>
                                          <a:rPr lang="en-US" sz="180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sz="18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sz="1800" b="0" dirty="0"/>
              </a:p>
              <a:p>
                <a:r>
                  <a:rPr lang="en-US" sz="1800" b="1" dirty="0"/>
                  <a:t>Fit threshold:</a:t>
                </a:r>
                <a:r>
                  <a:rPr lang="en-US" sz="1800" dirty="0"/>
                  <a:t> Exclude treated stores where the synthetic control cannot reproduce pre-entry sales well enough. </a:t>
                </a:r>
              </a:p>
              <a:p>
                <a:r>
                  <a:rPr lang="en-US" sz="1800" b="1" dirty="0"/>
                  <a:t>Balance on predictors:</a:t>
                </a:r>
                <a:r>
                  <a:rPr lang="en-US" sz="1800" dirty="0"/>
                  <a:t> Check whether treated and synthetic stores are similar on baseline sales, sales growth, seasonality, store size, market type, and local demand conditions. </a:t>
                </a:r>
              </a:p>
              <a:p>
                <a:r>
                  <a:rPr lang="en-US" sz="1800" b="1" dirty="0"/>
                  <a:t>Placebo comparison:</a:t>
                </a:r>
                <a:r>
                  <a:rPr lang="en-US" sz="1800" dirty="0"/>
                  <a:t> Compare the treated store’s pre-period fit to placebo fits for untreated WWW stores to verify that the match quality is not unusually poor.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2DDCFE-A5BA-7D9E-4D03-E6D9C2819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353800" cy="4351338"/>
              </a:xfrm>
              <a:blipFill>
                <a:blip r:embed="rId3"/>
                <a:stretch>
                  <a:fillRect l="-376" t="-1261" r="-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2582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8C65-69FD-3472-5CDC-E6E512CCC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E394-E6AF-1421-E1F5-71794335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Results: AAA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D63C-B0B5-B9A7-C2DE-CC7859038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77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0990-664E-EBA0-9B5F-9970BC1E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BA5D-6599-6928-5272-DE9EF17E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Results: BBBB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B640-9E68-2E5B-DEC7-C0A3B2F04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5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7042-C374-F444-DC1E-57E3D034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9C26-CEE8-D190-3744-F400D436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Results: CCC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81BA9-FA04-4EEF-46DF-4F9F97BEF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44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B2AA-7E07-8CE2-3880-60786D0FF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04E46-A296-932A-D127-DF9682C5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market/store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F9931-95E3-E691-75D4-D4123F58E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37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D10A2-9632-6CCD-65F3-39C398D9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60CF-FC55-EF7E-AAD3-087D344BE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BF8C-A84C-15B0-BED3-66F9247F0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567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974B-E313-F161-C30B-8A8AF3FF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607B-B13D-79B9-F64E-BC874679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Placebo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015FD-4609-20CA-5F83-479186A8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83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86B9-B282-2659-DE55-383343CA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E0469-928F-28F2-D10E-4A8230ADE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16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F6BE-5FE7-01B2-0243-C89C4794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DBD5-9377-6DDA-C183-9B094B0A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D9F58-9171-C5F4-2D0E-8F0ACE39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2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Microsoft Office PowerPoint</Application>
  <PresentationFormat>Widescreen</PresentationFormat>
  <Paragraphs>125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Office Theme</vt:lpstr>
      <vt:lpstr>Wwtitle hereWW</vt:lpstr>
      <vt:lpstr>Executive Summary</vt:lpstr>
      <vt:lpstr>Business Question</vt:lpstr>
      <vt:lpstr>Why auto-parts competitors matter for WWW</vt:lpstr>
      <vt:lpstr>Hypothesis</vt:lpstr>
      <vt:lpstr>Data Overview</vt:lpstr>
      <vt:lpstr>Outcome: WMT sales definition</vt:lpstr>
      <vt:lpstr>Competitor entry/exposure definition</vt:lpstr>
      <vt:lpstr>Treatment Control Construction</vt:lpstr>
      <vt:lpstr>Why Synthetic Controls</vt:lpstr>
      <vt:lpstr>Synthetic Controls Intuition</vt:lpstr>
      <vt:lpstr>Formal Setup</vt:lpstr>
      <vt:lpstr>Identification Assumptions</vt:lpstr>
      <vt:lpstr>Pre-period fit diagnostics</vt:lpstr>
      <vt:lpstr>Main Results: AAA</vt:lpstr>
      <vt:lpstr>Main Results: BBBB</vt:lpstr>
      <vt:lpstr>Main Results: CCC</vt:lpstr>
      <vt:lpstr>Heterogeneity by market/store type</vt:lpstr>
      <vt:lpstr>Robustness Checks</vt:lpstr>
      <vt:lpstr>Placebo tests</vt:lpstr>
      <vt:lpstr>Limitations</vt:lpstr>
      <vt:lpstr>Economic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2026-06-28T16:33:25Z</dcterms:created>
  <dcterms:modified xsi:type="dcterms:W3CDTF">2026-06-28T16:49:49Z</dcterms:modified>
</cp:coreProperties>
</file>